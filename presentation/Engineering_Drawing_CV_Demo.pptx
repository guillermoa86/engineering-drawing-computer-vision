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Engineering Drawing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Symbol Recognition for P&amp;ID Digitization</a:t>
            </a:r>
          </a:p>
          <a:p>
            <a:pPr>
              <a:spcAft>
                <a:spcPts val="1200"/>
              </a:spcAft>
              <a:defRPr sz="2000"/>
            </a:pPr>
            <a:r>
              <a:t>End-to-end open-source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Industrial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Engineering drawings contain dense symbolic information.</a:t>
            </a:r>
          </a:p>
          <a:p>
            <a:pPr>
              <a:spcAft>
                <a:spcPts val="1200"/>
              </a:spcAft>
              <a:defRPr sz="2000"/>
            </a:pPr>
            <a:r>
              <a:t>Manual symbol inventory and drawing review are expensive.</a:t>
            </a:r>
          </a:p>
          <a:p>
            <a:pPr>
              <a:spcAft>
                <a:spcPts val="1200"/>
              </a:spcAft>
              <a:defRPr sz="2000"/>
            </a:pPr>
            <a:r>
              <a:t>Goal: recognize engineering symbols automatically as a first-pass assistant.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Real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Piping &amp; Instrumentation Diagrams (P&amp;IDs)</a:t>
            </a:r>
          </a:p>
          <a:p>
            <a:pPr>
              <a:spcAft>
                <a:spcPts val="1200"/>
              </a:spcAft>
              <a:defRPr sz="2000"/>
            </a:pPr>
            <a:r>
              <a:t>Applications: drawing digitization, asset inventories, search, QA and revision analysis.</a:t>
            </a:r>
          </a:p>
          <a:p>
            <a:pPr>
              <a:spcAft>
                <a:spcPts val="1200"/>
              </a:spcAft>
              <a:defRPr sz="2000"/>
            </a:pPr>
            <a:r>
              <a:t>Production extension: full drawing detection + classification + OCR.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Public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SiED — Symbols in Engineering Drawings</a:t>
            </a:r>
          </a:p>
          <a:p>
            <a:pPr>
              <a:spcAft>
                <a:spcPts val="1200"/>
              </a:spcAft>
              <a:defRPr sz="2000"/>
            </a:pPr>
            <a:r>
              <a:t>2,432 engineering-symbol instances extracted from P&amp;IDs.</a:t>
            </a:r>
          </a:p>
          <a:p>
            <a:pPr>
              <a:spcAft>
                <a:spcPts val="1200"/>
              </a:spcAft>
              <a:defRPr sz="2000"/>
            </a:pPr>
            <a:r>
              <a:t>100×100 pixel symbol instances.</a:t>
            </a:r>
          </a:p>
          <a:p>
            <a:pPr>
              <a:spcAft>
                <a:spcPts val="1200"/>
              </a:spcAft>
              <a:defRPr sz="2000"/>
            </a:pPr>
            <a:r>
              <a:t>Strong class imbalance.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Computer Vision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Image → preprocessing → CNN → class probabilities</a:t>
            </a:r>
          </a:p>
          <a:p>
            <a:pPr>
              <a:spcAft>
                <a:spcPts val="1200"/>
              </a:spcAft>
              <a:defRPr sz="2000"/>
            </a:pPr>
            <a:r>
              <a:t>Grayscale + contrast normalization</a:t>
            </a:r>
          </a:p>
          <a:p>
            <a:pPr>
              <a:spcAft>
                <a:spcPts val="1200"/>
              </a:spcAft>
              <a:defRPr sz="2000"/>
            </a:pPr>
            <a:r>
              <a:t>Light geometric augmentation</a:t>
            </a:r>
          </a:p>
          <a:p>
            <a:pPr>
              <a:spcAft>
                <a:spcPts val="1200"/>
              </a:spcAft>
              <a:defRPr sz="2000"/>
            </a:pPr>
            <a:r>
              <a:t>Class-weighted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ResNet-18 transfer learning</a:t>
            </a:r>
          </a:p>
          <a:p>
            <a:pPr>
              <a:spcAft>
                <a:spcPts val="1200"/>
              </a:spcAft>
              <a:defRPr sz="2000"/>
            </a:pPr>
            <a:r>
              <a:t>ImageNet-pretrained visual backbone</a:t>
            </a:r>
          </a:p>
          <a:p>
            <a:pPr>
              <a:spcAft>
                <a:spcPts val="1200"/>
              </a:spcAft>
              <a:defRPr sz="2000"/>
            </a:pPr>
            <a:r>
              <a:t>First convolution adapted to grayscale</a:t>
            </a:r>
          </a:p>
          <a:p>
            <a:pPr>
              <a:spcAft>
                <a:spcPts val="1200"/>
              </a:spcAft>
              <a:defRPr sz="2000"/>
            </a:pPr>
            <a:r>
              <a:t>Final layer replaced with engineering-symbol classes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Imbalanced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Accuracy alone can hide failures on rare symbols.</a:t>
            </a:r>
          </a:p>
          <a:p>
            <a:pPr>
              <a:spcAft>
                <a:spcPts val="1200"/>
              </a:spcAft>
              <a:defRPr sz="2000"/>
            </a:pPr>
            <a:r>
              <a:t>Primary metrics: Macro F1 and Balanced Accuracy.</a:t>
            </a:r>
          </a:p>
          <a:p>
            <a:pPr>
              <a:spcAft>
                <a:spcPts val="1200"/>
              </a:spcAft>
              <a:defRPr sz="2000"/>
            </a:pPr>
            <a:r>
              <a:t>Class-weighted cross-entropy improves attention to minority classes.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Accuracy</a:t>
            </a:r>
          </a:p>
          <a:p>
            <a:pPr>
              <a:spcAft>
                <a:spcPts val="1200"/>
              </a:spcAft>
              <a:defRPr sz="2000"/>
            </a:pPr>
            <a:r>
              <a:t>Balanced Accuracy</a:t>
            </a:r>
          </a:p>
          <a:p>
            <a:pPr>
              <a:spcAft>
                <a:spcPts val="1200"/>
              </a:spcAft>
              <a:defRPr sz="2000"/>
            </a:pPr>
            <a:r>
              <a:t>Macro F1</a:t>
            </a:r>
          </a:p>
          <a:p>
            <a:pPr>
              <a:spcAft>
                <a:spcPts val="1200"/>
              </a:spcAft>
              <a:defRPr sz="2000"/>
            </a:pPr>
            <a:r>
              <a:t>Weighted F1</a:t>
            </a:r>
          </a:p>
          <a:p>
            <a:pPr>
              <a:spcAft>
                <a:spcPts val="1200"/>
              </a:spcAft>
              <a:defRPr sz="2000"/>
            </a:pPr>
            <a:r>
              <a:t>Top-3 accuracy</a:t>
            </a:r>
          </a:p>
          <a:p>
            <a:pPr>
              <a:spcAft>
                <a:spcPts val="1200"/>
              </a:spcAft>
              <a:defRPr sz="2000"/>
            </a:pPr>
            <a:r>
              <a:t>Confusion matrix and per-class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Streamlit application</a:t>
            </a:r>
          </a:p>
          <a:p>
            <a:pPr>
              <a:spcAft>
                <a:spcPts val="1200"/>
              </a:spcAft>
              <a:defRPr sz="2000"/>
            </a:pPr>
            <a:r>
              <a:t>Upload a cropped engineering symbol</a:t>
            </a:r>
          </a:p>
          <a:p>
            <a:pPr>
              <a:spcAft>
                <a:spcPts val="1200"/>
              </a:spcAft>
              <a:defRPr sz="2000"/>
            </a:pPr>
            <a:r>
              <a:t>Display predicted class</a:t>
            </a:r>
          </a:p>
          <a:p>
            <a:pPr>
              <a:spcAft>
                <a:spcPts val="1200"/>
              </a:spcAft>
              <a:defRPr sz="2000"/>
            </a:pPr>
            <a:r>
              <a:t>Display confidence and top-k alternatives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API /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FastAPI REST endpoint</a:t>
            </a:r>
          </a:p>
          <a:p>
            <a:pPr>
              <a:spcAft>
                <a:spcPts val="1200"/>
              </a:spcAft>
              <a:defRPr sz="2000"/>
            </a:pPr>
            <a:r>
              <a:t>Docker container</a:t>
            </a:r>
          </a:p>
          <a:p>
            <a:pPr>
              <a:spcAft>
                <a:spcPts val="1200"/>
              </a:spcAft>
              <a:defRPr sz="2000"/>
            </a:pPr>
            <a:r>
              <a:t>Structured JSON output</a:t>
            </a:r>
          </a:p>
          <a:p>
            <a:pPr>
              <a:spcAft>
                <a:spcPts val="1200"/>
              </a:spcAft>
              <a:defRPr sz="2000"/>
            </a:pPr>
            <a:r>
              <a:t>Ready to integrate into document-processing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Production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Full P&amp;ID → object detector → symbol classifier</a:t>
            </a:r>
          </a:p>
          <a:p>
            <a:pPr>
              <a:spcAft>
                <a:spcPts val="1200"/>
              </a:spcAft>
              <a:defRPr sz="2000"/>
            </a:pPr>
            <a:r>
              <a:t>OCR → tag extraction</a:t>
            </a:r>
          </a:p>
          <a:p>
            <a:pPr>
              <a:spcAft>
                <a:spcPts val="1200"/>
              </a:spcAft>
              <a:defRPr sz="2000"/>
            </a:pPr>
            <a:r>
              <a:t>Object/text association</a:t>
            </a:r>
          </a:p>
          <a:p>
            <a:pPr>
              <a:spcAft>
                <a:spcPts val="1200"/>
              </a:spcAft>
              <a:defRPr sz="2000"/>
            </a:pPr>
            <a:r>
              <a:t>Structured engineering graph</a:t>
            </a:r>
          </a:p>
          <a:p>
            <a:pPr>
              <a:spcAft>
                <a:spcPts val="1200"/>
              </a:spcAft>
              <a:defRPr sz="2000"/>
            </a:pPr>
            <a:r>
              <a:t>QA and revision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Interview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Why classification before detection?</a:t>
            </a:r>
          </a:p>
          <a:p>
            <a:pPr>
              <a:spcAft>
                <a:spcPts val="1200"/>
              </a:spcAft>
              <a:defRPr sz="2000"/>
            </a:pPr>
            <a:r>
              <a:t>How do you handle class imbalance?</a:t>
            </a:r>
          </a:p>
          <a:p>
            <a:pPr>
              <a:spcAft>
                <a:spcPts val="1200"/>
              </a:spcAft>
              <a:defRPr sz="2000"/>
            </a:pPr>
            <a:r>
              <a:t>Why macro F1?</a:t>
            </a:r>
          </a:p>
          <a:p>
            <a:pPr>
              <a:spcAft>
                <a:spcPts val="1200"/>
              </a:spcAft>
              <a:defRPr sz="2000"/>
            </a:pPr>
            <a:r>
              <a:t>How would you detect symbols on a full drawing?</a:t>
            </a:r>
          </a:p>
          <a:p>
            <a:pPr>
              <a:spcAft>
                <a:spcPts val="1200"/>
              </a:spcAft>
              <a:defRPr sz="2000"/>
            </a:pPr>
            <a:r>
              <a:t>How would you validate predictions before engineering use?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Full-image object detection</a:t>
            </a:r>
          </a:p>
          <a:p>
            <a:pPr>
              <a:spcAft>
                <a:spcPts val="1200"/>
              </a:spcAft>
              <a:defRPr sz="2000"/>
            </a:pPr>
            <a:r>
              <a:t>YOLO / Faster R-CNN / DETR benchmark</a:t>
            </a:r>
          </a:p>
          <a:p>
            <a:pPr>
              <a:spcAft>
                <a:spcPts val="1200"/>
              </a:spcAft>
              <a:defRPr sz="2000"/>
            </a:pPr>
            <a:r>
              <a:t>OCR and tag linking</a:t>
            </a:r>
          </a:p>
          <a:p>
            <a:pPr>
              <a:spcAft>
                <a:spcPts val="1200"/>
              </a:spcAft>
              <a:defRPr sz="2000"/>
            </a:pPr>
            <a:r>
              <a:t>Active learning for rare symbols</a:t>
            </a:r>
          </a:p>
          <a:p>
            <a:pPr>
              <a:spcAft>
                <a:spcPts val="1200"/>
              </a:spcAft>
              <a:defRPr sz="2000"/>
            </a:pPr>
            <a:r>
              <a:t>Revision-difference detection</a:t>
            </a:r>
          </a:p>
          <a:p>
            <a:pPr>
              <a:spcAft>
                <a:spcPts val="1200"/>
              </a:spcAft>
              <a:defRPr sz="2000"/>
            </a:pPr>
            <a:r>
              <a:t>CAD/BIM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